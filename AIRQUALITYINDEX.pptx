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327638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t>AIR QUALITY INDEX(AQI) ANALYSIS IN INDIA</a:t>
            </a:r>
            <a:endParaRPr lang="en-US" sz="5100" dirty="0">
              <a:latin typeface="Aptos"/>
            </a:endParaRPr>
          </a:p>
          <a:p>
            <a:pPr algn="l"/>
            <a:br>
              <a:rPr lang="en-US" sz="5100" b="1" dirty="0"/>
            </a:b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584363"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SPOORTHY LAKSHMI G</a:t>
            </a:r>
          </a:p>
          <a:p>
            <a:pPr algn="l">
              <a:spcAft>
                <a:spcPts val="600"/>
              </a:spcAft>
            </a:pPr>
            <a:r>
              <a:rPr lang="en-US" sz="1600" b="1" cap="all" dirty="0"/>
              <a:t>College </a:t>
            </a:r>
            <a:r>
              <a:rPr lang="en-US" sz="1600" b="1" cap="all" dirty="0" err="1"/>
              <a:t>Name:VCET</a:t>
            </a:r>
            <a:r>
              <a:rPr lang="en-US" sz="1600" b="1" cap="all" dirty="0"/>
              <a:t> PUTTUR</a:t>
            </a:r>
          </a:p>
          <a:p>
            <a:pPr algn="l">
              <a:spcAft>
                <a:spcPts val="600"/>
              </a:spcAft>
            </a:pPr>
            <a:r>
              <a:rPr lang="en-US" sz="1600" b="1" cap="all" dirty="0" err="1"/>
              <a:t>Department:COMPUTER</a:t>
            </a:r>
            <a:r>
              <a:rPr lang="en-US" sz="1600" b="1" cap="all" dirty="0"/>
              <a:t> SCIENCE </a:t>
            </a:r>
          </a:p>
          <a:p>
            <a:pPr algn="l">
              <a:spcAft>
                <a:spcPts val="600"/>
              </a:spcAft>
            </a:pPr>
            <a:r>
              <a:rPr lang="en-US" sz="1600" b="1" cap="all" dirty="0"/>
              <a:t>Email ID:SPOORTHYLAKSHMIG@GMAIL.COM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623527"/>
            <a:ext cx="10515600" cy="4450661"/>
          </a:xfrm>
        </p:spPr>
        <p:txBody>
          <a:bodyPr vert="horz" lIns="91440" tIns="45720" rIns="91440" bIns="45720" rtlCol="0">
            <a:normAutofit/>
          </a:bodyPr>
          <a:lstStyle/>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Problem Statement </a:t>
            </a:r>
            <a:r>
              <a:rPr lang="en-US" sz="2200" dirty="0">
                <a:latin typeface="Times New Roman" panose="02020603050405020304" pitchFamily="18" charset="0"/>
                <a:cs typeface="Times New Roman" panose="02020603050405020304" pitchFamily="18" charset="0"/>
              </a:rPr>
              <a:t>(Should not include solution)</a:t>
            </a: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Proposed System/Solution</a:t>
            </a:r>
            <a:endParaRPr lang="en-US" sz="2200" dirty="0">
              <a:latin typeface="Times New Roman" panose="02020603050405020304" pitchFamily="18" charset="0"/>
              <a:cs typeface="Times New Roman" panose="02020603050405020304" pitchFamily="18" charset="0"/>
            </a:endParaRP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System Development Approach </a:t>
            </a:r>
            <a:r>
              <a:rPr lang="en-US" sz="2200" dirty="0">
                <a:latin typeface="Times New Roman" panose="02020603050405020304" pitchFamily="18" charset="0"/>
                <a:cs typeface="Times New Roman" panose="02020603050405020304" pitchFamily="18" charset="0"/>
              </a:rPr>
              <a:t>(Technology Used) </a:t>
            </a: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Algorithm &amp; Deployment  </a:t>
            </a:r>
            <a:endParaRPr lang="en-US" sz="2200" dirty="0">
              <a:latin typeface="Times New Roman" panose="02020603050405020304" pitchFamily="18" charset="0"/>
              <a:cs typeface="Times New Roman" panose="02020603050405020304" pitchFamily="18" charset="0"/>
            </a:endParaRP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Result (Output Image)</a:t>
            </a:r>
            <a:endParaRPr lang="en-US" sz="2200" dirty="0">
              <a:latin typeface="Times New Roman" panose="02020603050405020304" pitchFamily="18" charset="0"/>
              <a:cs typeface="Times New Roman" panose="02020603050405020304" pitchFamily="18" charset="0"/>
            </a:endParaRP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Future Scope</a:t>
            </a:r>
            <a:endParaRPr lang="en-US" sz="2200" dirty="0">
              <a:latin typeface="Times New Roman" panose="02020603050405020304" pitchFamily="18" charset="0"/>
              <a:cs typeface="Times New Roman" panose="02020603050405020304" pitchFamily="18" charset="0"/>
            </a:endParaRPr>
          </a:p>
          <a:p>
            <a:pPr marL="305435" indent="-305435" algn="just">
              <a:spcBef>
                <a:spcPct val="20000"/>
              </a:spcBef>
              <a:spcAft>
                <a:spcPts val="600"/>
              </a:spcAft>
            </a:pPr>
            <a:r>
              <a:rPr lang="en-US" sz="2200" b="1" dirty="0">
                <a:latin typeface="Times New Roman" panose="02020603050405020304" pitchFamily="18" charset="0"/>
                <a:cs typeface="Times New Roman" panose="02020603050405020304" pitchFamily="18" charset="0"/>
              </a:rPr>
              <a:t>References</a:t>
            </a:r>
            <a:endParaRPr lang="en-US" sz="2200" dirty="0">
              <a:latin typeface="Times New Roman" panose="02020603050405020304" pitchFamily="18" charset="0"/>
              <a:cs typeface="Times New Roman" panose="02020603050405020304" pitchFamily="18" charset="0"/>
            </a:endParaRPr>
          </a:p>
          <a:p>
            <a:pPr algn="just"/>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buNone/>
            </a:pPr>
            <a:r>
              <a:rPr lang="en-US" sz="2200" dirty="0">
                <a:latin typeface="Times New Roman" panose="02020603050405020304" pitchFamily="18" charset="0"/>
                <a:cs typeface="Times New Roman" panose="02020603050405020304" pitchFamily="18" charset="0"/>
              </a:rPr>
              <a:t>Air pollution has become a major environmental and health concern in many regions of India. Monitoring air quality is important to understand pollution levels and identify the pollutants that contribute most to poor air quality. However, large volumes of air quality data collected from monitoring stations are difficult to interpret without proper analysis and visualization. Therefore, there is a need for a system that can analyze air quality data and present meaningful insights through interactive visualizations to help understand pollution patterns and support environmental decision-making.</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4" y="1304306"/>
            <a:ext cx="11238918" cy="4950444"/>
          </a:xfrm>
        </p:spPr>
        <p:txBody>
          <a:bodyPr vert="horz" lIns="91440" tIns="45720" rIns="91440" bIns="45720" rtlCol="0" anchor="t">
            <a:noAutofit/>
          </a:bodyPr>
          <a:lstStyle/>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The proposed system is an interactive Air Quality Index (AQI) dashboard developed using Microsoft Power BI to analyze and visualize air pollution data across India.</a:t>
            </a:r>
          </a:p>
          <a:p>
            <a:pPr marL="305435" indent="-305435" algn="just">
              <a:spcBef>
                <a:spcPct val="20000"/>
              </a:spcBef>
              <a:spcAft>
                <a:spcPts val="600"/>
              </a:spcAft>
              <a:buFont typeface="Arial"/>
              <a:buChar char="•"/>
            </a:pPr>
            <a:endParaRPr lang="en-US" sz="1600" dirty="0">
              <a:latin typeface="Times New Roman" panose="02020603050405020304" pitchFamily="18" charset="0"/>
              <a:ea typeface="Calibri"/>
              <a:cs typeface="Times New Roman" panose="02020603050405020304" pitchFamily="18" charset="0"/>
            </a:endParaRP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The system collects air quality data containing information about different pollutants such as PM2.5, PM10, NO2, CO, OZONE, and SO2 along with geographical coordinates.</a:t>
            </a:r>
          </a:p>
          <a:p>
            <a:pPr marL="305435" indent="-305435" algn="just">
              <a:spcBef>
                <a:spcPct val="20000"/>
              </a:spcBef>
              <a:spcAft>
                <a:spcPts val="600"/>
              </a:spcAft>
              <a:buFont typeface="Arial"/>
              <a:buChar char="•"/>
            </a:pPr>
            <a:endParaRPr lang="en-US" sz="1600" dirty="0">
              <a:latin typeface="Times New Roman" panose="02020603050405020304" pitchFamily="18" charset="0"/>
              <a:ea typeface="Calibri"/>
              <a:cs typeface="Times New Roman" panose="02020603050405020304" pitchFamily="18" charset="0"/>
            </a:endParaRP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The solution processes and visualizes the data through interactive charts and maps that allow users to explore pollution levels across different locations. The dashboard includes key visualizations such as:</a:t>
            </a:r>
          </a:p>
          <a:p>
            <a:pPr marL="305435" indent="-305435" algn="just">
              <a:spcBef>
                <a:spcPct val="20000"/>
              </a:spcBef>
              <a:spcAft>
                <a:spcPts val="600"/>
              </a:spcAft>
              <a:buFont typeface="Arial"/>
              <a:buChar char="•"/>
            </a:pPr>
            <a:endParaRPr lang="en-US" sz="1600" dirty="0">
              <a:latin typeface="Times New Roman" panose="02020603050405020304" pitchFamily="18" charset="0"/>
              <a:ea typeface="Calibri"/>
              <a:cs typeface="Times New Roman" panose="02020603050405020304" pitchFamily="18" charset="0"/>
            </a:endParaRP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 Average AQI indicator to show overall air quality level</a:t>
            </a: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 Map visualization to display pollution distribution across India</a:t>
            </a: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 Bar chart to compare pollution levels by pollutant type</a:t>
            </a: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 Pie chart to identify dominant pollutants</a:t>
            </a: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 Interactive slicer to filter data based on pollutant type</a:t>
            </a:r>
          </a:p>
          <a:p>
            <a:pPr marL="305435" indent="-305435" algn="just">
              <a:spcBef>
                <a:spcPct val="20000"/>
              </a:spcBef>
              <a:spcAft>
                <a:spcPts val="600"/>
              </a:spcAft>
              <a:buFont typeface="Arial"/>
              <a:buChar char="•"/>
            </a:pPr>
            <a:endParaRPr lang="en-US" sz="1600" dirty="0">
              <a:latin typeface="Times New Roman" panose="02020603050405020304" pitchFamily="18" charset="0"/>
              <a:ea typeface="Calibri"/>
              <a:cs typeface="Times New Roman" panose="02020603050405020304" pitchFamily="18" charset="0"/>
            </a:endParaRPr>
          </a:p>
          <a:p>
            <a:pPr marL="305435" indent="-305435" algn="just">
              <a:spcBef>
                <a:spcPct val="20000"/>
              </a:spcBef>
              <a:spcAft>
                <a:spcPts val="600"/>
              </a:spcAft>
              <a:buFont typeface="Arial"/>
              <a:buChar char="•"/>
            </a:pPr>
            <a:r>
              <a:rPr lang="en-US" sz="1600" dirty="0">
                <a:latin typeface="Times New Roman" panose="02020603050405020304" pitchFamily="18" charset="0"/>
                <a:ea typeface="Calibri"/>
                <a:cs typeface="Times New Roman" panose="02020603050405020304" pitchFamily="18" charset="0"/>
              </a:rPr>
              <a:t>This solution helps users quickly understand pollution patterns and identify the most harmful pollutants affecting air quality</a:t>
            </a:r>
            <a:r>
              <a:rPr lang="en-US" sz="1200" b="1" dirty="0">
                <a:latin typeface="Calibri"/>
                <a:ea typeface="Calibri"/>
                <a:cs typeface="Calibri"/>
              </a:rPr>
              <a:t>.</a:t>
            </a: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0" y="606222"/>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110343"/>
            <a:ext cx="10515600" cy="5048129"/>
          </a:xfrm>
        </p:spPr>
        <p:txBody>
          <a:bodyPr vert="horz" lIns="91440" tIns="45720" rIns="91440" bIns="45720" rtlCol="0">
            <a:noAutofit/>
          </a:bodyPr>
          <a:lstStyle/>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The system was developed using a data analytics and visualization approach.</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Technologies Used:</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Microsoft Power BI – For data visualization and dashboard creation</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Power Query – For data cleaning and transformation</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Data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 To organize and structure the dataset</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Interactive Visualizations – To display insights through charts and maps</a:t>
            </a:r>
          </a:p>
          <a:p>
            <a:pPr marL="0" indent="0">
              <a:spcBef>
                <a:spcPct val="20000"/>
              </a:spcBef>
              <a:spcAft>
                <a:spcPts val="600"/>
              </a:spcAft>
              <a:buNone/>
            </a:pPr>
            <a:endParaRPr lang="en-IN" sz="1400" dirty="0">
              <a:latin typeface="Times New Roman" panose="02020603050405020304" pitchFamily="18" charset="0"/>
              <a:cs typeface="Times New Roman" panose="02020603050405020304" pitchFamily="18" charset="0"/>
            </a:endParaRP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System Requirements:</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Hardware Requirements:</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Computer/Laptop with minimum 8GB RAM</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Internet connection</a:t>
            </a:r>
          </a:p>
          <a:p>
            <a:pPr marL="0" indent="0">
              <a:spcBef>
                <a:spcPct val="20000"/>
              </a:spcBef>
              <a:spcAft>
                <a:spcPts val="600"/>
              </a:spcAft>
              <a:buNone/>
            </a:pPr>
            <a:endParaRPr lang="en-IN" sz="1400" dirty="0">
              <a:latin typeface="Times New Roman" panose="02020603050405020304" pitchFamily="18" charset="0"/>
              <a:cs typeface="Times New Roman" panose="02020603050405020304" pitchFamily="18" charset="0"/>
            </a:endParaRP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Software Requirements:</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Microsoft Power BI Desktop</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 Windows Operating System</a:t>
            </a:r>
          </a:p>
          <a:p>
            <a:pPr marL="0" indent="0">
              <a:spcBef>
                <a:spcPct val="20000"/>
              </a:spcBef>
              <a:spcAft>
                <a:spcPts val="600"/>
              </a:spcAft>
              <a:buNone/>
            </a:pPr>
            <a:endParaRPr lang="en-IN" sz="1400" dirty="0">
              <a:latin typeface="Times New Roman" panose="02020603050405020304" pitchFamily="18" charset="0"/>
              <a:cs typeface="Times New Roman" panose="02020603050405020304" pitchFamily="18" charset="0"/>
            </a:endParaRP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Dataset:</a:t>
            </a:r>
          </a:p>
          <a:p>
            <a:pPr marL="0" indent="0">
              <a:spcBef>
                <a:spcPct val="20000"/>
              </a:spcBef>
              <a:spcAft>
                <a:spcPts val="600"/>
              </a:spcAft>
              <a:buNone/>
            </a:pPr>
            <a:r>
              <a:rPr lang="en-IN" sz="1400" dirty="0">
                <a:latin typeface="Times New Roman" panose="02020603050405020304" pitchFamily="18" charset="0"/>
                <a:cs typeface="Times New Roman" panose="02020603050405020304" pitchFamily="18" charset="0"/>
              </a:rPr>
              <a:t>Air Quality Index dataset containing pollutant values, geographic coordinates, and AQI measurements</a:t>
            </a:r>
            <a:r>
              <a:rPr lang="en-IN" sz="1400" b="1" dirty="0">
                <a:latin typeface="Franklin Gothic Book"/>
              </a:rPr>
              <a:t>.</a:t>
            </a:r>
            <a:endParaRPr lang="en-GB" sz="14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192055" y="1208302"/>
            <a:ext cx="10515600" cy="5285803"/>
          </a:xfrm>
        </p:spPr>
        <p:txBody>
          <a:bodyPr vert="horz" lIns="91440" tIns="45720" rIns="91440" bIns="45720" rtlCol="0">
            <a:noAutofit/>
          </a:bodyPr>
          <a:lstStyle/>
          <a:p>
            <a:pPr marL="305435" indent="-305435">
              <a:spcBef>
                <a:spcPct val="20000"/>
              </a:spcBef>
              <a:spcAft>
                <a:spcPts val="600"/>
              </a:spcAft>
              <a:buFont typeface="Arial"/>
              <a:buChar char="•"/>
            </a:pPr>
            <a:r>
              <a:rPr lang="en-US" sz="1400" dirty="0">
                <a:latin typeface="Times New Roman" panose="02020603050405020304" pitchFamily="18" charset="0"/>
                <a:cs typeface="Times New Roman" panose="02020603050405020304" pitchFamily="18" charset="0"/>
              </a:rPr>
              <a:t>The system uses a data analysis and visualization approach rather than traditional machine learning algorithms.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Data Input:</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The system takes air quality data containing pollutant values such as PM2.5, PM10, NO2, CO, OZONE, and SO2 along with latitude and longitude coordinates.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Data Processing:</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Data cleaning using Power Query</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Handling missing values and formatting columns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Structuring the dataset for analysis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Data Visualization:</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The processed data is visualized using Power BI visualizations such as: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Card visual for Average AQI</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Map visualization for pollution distribution</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Bar chart for pollutant comparison</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 Pie chart for dominant pollutant analysis</a:t>
            </a:r>
          </a:p>
          <a:p>
            <a:pPr marL="0" indent="0">
              <a:spcBef>
                <a:spcPct val="20000"/>
              </a:spcBef>
              <a:spcAft>
                <a:spcPts val="600"/>
              </a:spcAft>
              <a:buNone/>
            </a:pPr>
            <a:r>
              <a:rPr lang="en-US" sz="1400" dirty="0">
                <a:latin typeface="Times New Roman" panose="02020603050405020304" pitchFamily="18" charset="0"/>
                <a:cs typeface="Times New Roman" panose="02020603050405020304" pitchFamily="18" charset="0"/>
              </a:rPr>
              <a:t>Deployment:</a:t>
            </a:r>
          </a:p>
          <a:p>
            <a:pPr marL="305435" indent="-305435">
              <a:spcBef>
                <a:spcPct val="20000"/>
              </a:spcBef>
              <a:spcAft>
                <a:spcPts val="600"/>
              </a:spcAft>
              <a:buFont typeface="Arial"/>
              <a:buChar char="•"/>
            </a:pPr>
            <a:r>
              <a:rPr lang="en-US" sz="1400" dirty="0">
                <a:latin typeface="Times New Roman" panose="02020603050405020304" pitchFamily="18" charset="0"/>
                <a:cs typeface="Times New Roman" panose="02020603050405020304" pitchFamily="18" charset="0"/>
              </a:rPr>
              <a:t>The dashboard can be deployed using Power BI Service, allowing users to access and interact with the report online.</a:t>
            </a:r>
            <a:endParaRPr lang="en-GB"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2" y="1266031"/>
            <a:ext cx="5738326" cy="4251960"/>
          </a:xfrm>
        </p:spPr>
        <p:txBody>
          <a:bodyPr vert="horz" lIns="91440" tIns="45720" rIns="91440" bIns="45720" rtlCol="0">
            <a:normAutofit fontScale="77500" lnSpcReduction="20000"/>
          </a:bodyPr>
          <a:lstStyle/>
          <a:p>
            <a:pPr marL="0" indent="0" algn="just">
              <a:buNone/>
            </a:pPr>
            <a:r>
              <a:rPr lang="en-US" sz="2200" dirty="0">
                <a:latin typeface="Times New Roman" panose="02020603050405020304" pitchFamily="18" charset="0"/>
                <a:cs typeface="Times New Roman" panose="02020603050405020304" pitchFamily="18" charset="0"/>
              </a:rPr>
              <a:t>The developed Power BI dashboard successfully analyzes </a:t>
            </a:r>
          </a:p>
          <a:p>
            <a:pPr marL="0" indent="0" algn="just">
              <a:buNone/>
            </a:pPr>
            <a:r>
              <a:rPr lang="en-US" sz="2200" dirty="0">
                <a:latin typeface="Times New Roman" panose="02020603050405020304" pitchFamily="18" charset="0"/>
                <a:cs typeface="Times New Roman" panose="02020603050405020304" pitchFamily="18" charset="0"/>
              </a:rPr>
              <a:t>air quality data and provides meaningful insights through </a:t>
            </a:r>
          </a:p>
          <a:p>
            <a:pPr marL="0" indent="0" algn="just">
              <a:buNone/>
            </a:pPr>
            <a:r>
              <a:rPr lang="en-US" sz="2200" dirty="0">
                <a:latin typeface="Times New Roman" panose="02020603050405020304" pitchFamily="18" charset="0"/>
                <a:cs typeface="Times New Roman" panose="02020603050405020304" pitchFamily="18" charset="0"/>
              </a:rPr>
              <a:t>interactive visualizations.</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The dashboard displays:</a:t>
            </a:r>
          </a:p>
          <a:p>
            <a:pPr marL="0" indent="0" algn="just">
              <a:buNone/>
            </a:pPr>
            <a:r>
              <a:rPr lang="en-US" sz="2200" dirty="0">
                <a:latin typeface="Times New Roman" panose="02020603050405020304" pitchFamily="18" charset="0"/>
                <a:cs typeface="Times New Roman" panose="02020603050405020304" pitchFamily="18" charset="0"/>
              </a:rPr>
              <a:t>• Average AQI level across the dataset</a:t>
            </a:r>
          </a:p>
          <a:p>
            <a:pPr marL="0" indent="0" algn="just">
              <a:buNone/>
            </a:pPr>
            <a:r>
              <a:rPr lang="en-US" sz="2200" dirty="0">
                <a:latin typeface="Times New Roman" panose="02020603050405020304" pitchFamily="18" charset="0"/>
                <a:cs typeface="Times New Roman" panose="02020603050405020304" pitchFamily="18" charset="0"/>
              </a:rPr>
              <a:t>• Geographic distribution of pollution across India</a:t>
            </a:r>
          </a:p>
          <a:p>
            <a:pPr marL="0" indent="0" algn="just">
              <a:buNone/>
            </a:pPr>
            <a:r>
              <a:rPr lang="en-US" sz="2200" dirty="0">
                <a:latin typeface="Times New Roman" panose="02020603050405020304" pitchFamily="18" charset="0"/>
                <a:cs typeface="Times New Roman" panose="02020603050405020304" pitchFamily="18" charset="0"/>
              </a:rPr>
              <a:t>• Comparison of different pollutants</a:t>
            </a:r>
          </a:p>
          <a:p>
            <a:pPr marL="0" indent="0" algn="just">
              <a:buNone/>
            </a:pPr>
            <a:r>
              <a:rPr lang="en-US" sz="2200" dirty="0">
                <a:latin typeface="Times New Roman" panose="02020603050405020304" pitchFamily="18" charset="0"/>
                <a:cs typeface="Times New Roman" panose="02020603050405020304" pitchFamily="18" charset="0"/>
              </a:rPr>
              <a:t>• Identification of dominant pollutants affecting air quality</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Users can interact with the dashboard by applying</a:t>
            </a:r>
          </a:p>
          <a:p>
            <a:pPr marL="0" indent="0" algn="just">
              <a:buNone/>
            </a:pPr>
            <a:r>
              <a:rPr lang="en-US" sz="2200" dirty="0">
                <a:latin typeface="Times New Roman" panose="02020603050405020304" pitchFamily="18" charset="0"/>
                <a:cs typeface="Times New Roman" panose="02020603050405020304" pitchFamily="18" charset="0"/>
              </a:rPr>
              <a:t> filters and exploring pollution levels across different locations</a:t>
            </a:r>
            <a:r>
              <a:rPr lang="en-US" sz="2200" dirty="0">
                <a:latin typeface="Franklin Gothic Book"/>
              </a:rPr>
              <a:t>.</a:t>
            </a:r>
            <a:endParaRPr lang="en-US" sz="2200" dirty="0"/>
          </a:p>
        </p:txBody>
      </p:sp>
      <p:pic>
        <p:nvPicPr>
          <p:cNvPr id="5" name="Picture 4">
            <a:extLst>
              <a:ext uri="{FF2B5EF4-FFF2-40B4-BE49-F238E27FC236}">
                <a16:creationId xmlns:a16="http://schemas.microsoft.com/office/drawing/2014/main" id="{44DC158A-E821-2FF8-DAC1-C1CEE910F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5690" y="1266031"/>
            <a:ext cx="6556310" cy="4325938"/>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buNone/>
            </a:pPr>
            <a:r>
              <a:rPr lang="en-US" sz="2200" dirty="0">
                <a:latin typeface="Times New Roman" panose="02020603050405020304" pitchFamily="18" charset="0"/>
                <a:cs typeface="Times New Roman" panose="02020603050405020304" pitchFamily="18" charset="0"/>
              </a:rPr>
              <a:t>The Air Quality Index Analysis Dashboard effectively transforms raw air quality data into meaningful visual insights using Microsoft Power BI. By presenting pollution levels through maps, charts, and interactive filters, the system helps users understand pollution distribution and identify dominant pollutants affecting air quality. This approach demonstrates how data analytics and visualization tools can support better understanding and monitoring of environmental conditions.</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lgn="just">
              <a:spcBef>
                <a:spcPct val="20000"/>
              </a:spcBef>
              <a:spcAft>
                <a:spcPts val="600"/>
              </a:spcAft>
              <a:buNone/>
            </a:pPr>
            <a:r>
              <a:rPr lang="en-US" sz="2200" dirty="0">
                <a:latin typeface="Times New Roman" panose="02020603050405020304" pitchFamily="18" charset="0"/>
                <a:cs typeface="Times New Roman" panose="02020603050405020304" pitchFamily="18" charset="0"/>
              </a:rPr>
              <a:t>The system can be further enhanced by integrating real-time air quality data from environmental monitoring stations and incorporating machine learning models to predict future AQI levels. Additional features such as city-wise analysis, automated pollution alerts, and integration with web or mobile applications can improve accessibility and provide more detailed insights into air quality trends.</a:t>
            </a: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lgn="just">
              <a:buNone/>
            </a:pPr>
            <a:r>
              <a:rPr lang="en-US" sz="2200" dirty="0">
                <a:latin typeface="Times New Roman" panose="02020603050405020304" pitchFamily="18" charset="0"/>
                <a:cs typeface="Times New Roman" panose="02020603050405020304" pitchFamily="18" charset="0"/>
              </a:rPr>
              <a:t>1. Microsoft Power BI Documentation</a:t>
            </a:r>
          </a:p>
          <a:p>
            <a:pPr marL="0" indent="0" algn="just">
              <a:buNone/>
            </a:pPr>
            <a:r>
              <a:rPr lang="en-US" sz="2200" dirty="0">
                <a:latin typeface="Times New Roman" panose="02020603050405020304" pitchFamily="18" charset="0"/>
                <a:cs typeface="Times New Roman" panose="02020603050405020304" pitchFamily="18" charset="0"/>
              </a:rPr>
              <a:t>https://learn.microsoft.com/power-bi/</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2. Central Pollution Control Board (CPCB) – Air Quality Data</a:t>
            </a:r>
          </a:p>
          <a:p>
            <a:pPr marL="0" indent="0" algn="just">
              <a:buNone/>
            </a:pPr>
            <a:r>
              <a:rPr lang="en-US" sz="2200" dirty="0">
                <a:latin typeface="Times New Roman" panose="02020603050405020304" pitchFamily="18" charset="0"/>
                <a:cs typeface="Times New Roman" panose="02020603050405020304" pitchFamily="18" charset="0"/>
              </a:rPr>
              <a:t>https://cpcb.nic.in</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3. Air Quality Index (AQI) Guidelines – Government of India</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sz="2200" dirty="0">
                <a:latin typeface="Times New Roman" panose="02020603050405020304" pitchFamily="18" charset="0"/>
                <a:cs typeface="Times New Roman" panose="02020603050405020304" pitchFamily="18" charset="0"/>
              </a:rPr>
              <a:t>4. Data Visualization Best Practices – Microsoft Power BI</a:t>
            </a:r>
          </a:p>
          <a:p>
            <a:pPr marL="0" indent="0" algn="just">
              <a:buNone/>
            </a:pPr>
            <a:r>
              <a:rPr lang="en-IN" sz="2200" dirty="0">
                <a:latin typeface="Times New Roman" panose="02020603050405020304" pitchFamily="18" charset="0"/>
                <a:cs typeface="Times New Roman" panose="02020603050405020304" pitchFamily="18" charset="0"/>
              </a:rPr>
              <a:t>GitHub Link:</a:t>
            </a:r>
            <a:r>
              <a:rPr lang="en-IN" sz="2200" dirty="0">
                <a:solidFill>
                  <a:srgbClr val="0070C0"/>
                </a:solidFill>
                <a:latin typeface="Times New Roman" panose="02020603050405020304" pitchFamily="18" charset="0"/>
                <a:cs typeface="Times New Roman" panose="02020603050405020304" pitchFamily="18" charset="0"/>
              </a:rPr>
              <a:t> </a:t>
            </a:r>
            <a:r>
              <a:rPr lang="en-IN" sz="2200" u="sng" dirty="0">
                <a:solidFill>
                  <a:srgbClr val="0070C0"/>
                </a:solidFill>
                <a:latin typeface="Times New Roman" panose="02020603050405020304" pitchFamily="18" charset="0"/>
                <a:cs typeface="Times New Roman" panose="02020603050405020304" pitchFamily="18" charset="0"/>
              </a:rPr>
              <a:t>Link</a:t>
            </a: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dirty="0">
                <a:solidFill>
                  <a:srgbClr val="002060"/>
                </a:solidFill>
                <a:latin typeface="Times New Roman" panose="02020603050405020304" pitchFamily="18" charset="0"/>
                <a:cs typeface="Times New Roman" panose="02020603050405020304" pitchFamily="18" charset="0"/>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830</Words>
  <Application>Microsoft Office PowerPoint</Application>
  <PresentationFormat>Widescreen</PresentationFormat>
  <Paragraphs>98</Paragraphs>
  <Slides>11</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Aptos</vt:lpstr>
      <vt:lpstr>Arial</vt:lpstr>
      <vt:lpstr>Calibri</vt:lpstr>
      <vt:lpstr>Franklin Gothic Book</vt:lpstr>
      <vt:lpstr>Times New Roman</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Spoorthy Lakshmi G</cp:lastModifiedBy>
  <cp:revision>101</cp:revision>
  <dcterms:created xsi:type="dcterms:W3CDTF">2024-05-21T11:55:07Z</dcterms:created>
  <dcterms:modified xsi:type="dcterms:W3CDTF">2026-03-14T17:58:55Z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